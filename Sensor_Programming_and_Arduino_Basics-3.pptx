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8D76F-E8C3-4F68-98A3-EE838A9733B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8D7D5-31C1-4357-BB69-402F78AD4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2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D7D5-31C1-4357-BB69-402F78AD4F0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07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Sensor Programming Fundamentals &amp; Arduino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Structure • Execution Flow • Pin Configuration • Hardware Abstraction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Sensor Programming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Basics of interfacing sensors with microcontrollers</a:t>
            </a:r>
          </a:p>
          <a:p>
            <a:r>
              <a:t>Reading analog and digital sensor data</a:t>
            </a:r>
          </a:p>
          <a:p>
            <a:r>
              <a:t>Processing and converting sensor signals</a:t>
            </a:r>
          </a:p>
          <a:p>
            <a:r>
              <a:t>Real-time data acquisition and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Structure (Arduino)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setup(): runs once, used for initialization</a:t>
            </a:r>
          </a:p>
          <a:p>
            <a:r>
              <a:t>loop(): runs continuously</a:t>
            </a:r>
          </a:p>
          <a:p>
            <a:r>
              <a:t>Global declarations: variables, constants, libraries</a:t>
            </a:r>
          </a:p>
          <a:p>
            <a:r>
              <a:t>Functions: modular and reusable code blocks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ON / Reset</a:t>
            </a:r>
          </a:p>
          <a:p>
            <a:r>
              <a:t>setup() function executes first</a:t>
            </a:r>
          </a:p>
          <a:p>
            <a:r>
              <a:t>loop() executes repeatedly</a:t>
            </a:r>
          </a:p>
          <a:p>
            <a:r>
              <a:t>Interrupts handle urgent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Pins: INPUT, OUTPUT, INPUT_PULLUP</a:t>
            </a:r>
          </a:p>
          <a:p>
            <a:r>
              <a:t>Analog Pins: Read sensor values (0–1023)</a:t>
            </a:r>
          </a:p>
          <a:p>
            <a:r>
              <a:t>PWM Pins: Simulate analog output</a:t>
            </a:r>
          </a:p>
          <a:p>
            <a:r>
              <a:t>pinMode(), digitalWrite(), digitalRead()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Hides low-level hardware details</a:t>
            </a:r>
          </a:p>
          <a:p>
            <a:r>
              <a:t>Arduino libraries simplify sensor usage</a:t>
            </a:r>
          </a:p>
          <a:p>
            <a:r>
              <a:t>Improves portability and reusability</a:t>
            </a:r>
          </a:p>
          <a:p>
            <a:r>
              <a:t>Example: digitalRead() instead of register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Programming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C/C++</a:t>
            </a:r>
          </a:p>
          <a:p>
            <a:r>
              <a:t>Uses Arduino IDE</a:t>
            </a:r>
          </a:p>
          <a:p>
            <a:r>
              <a:t>Large community support</a:t>
            </a:r>
          </a:p>
          <a:p>
            <a:r>
              <a:t>Built-in libraries for sensors and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Block Diagram: Sensor Interfacing with Arduino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Arduino</a:t>
            </a:r>
          </a:p>
          <a:p>
            <a:r>
              <a:t>Microcontroller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</a:t>
            </a:r>
          </a:p>
          <a:p>
            <a:r>
              <a:t>(LED / Display)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Diagram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VCC → 5V on Arduino</a:t>
            </a:r>
          </a:p>
          <a:p>
            <a:r>
              <a:t>Sensor GND → GND on Arduino</a:t>
            </a:r>
          </a:p>
          <a:p>
            <a:r>
              <a:t>Sensor OUT → Analog/Digital Pin</a:t>
            </a:r>
          </a:p>
          <a:p>
            <a:r>
              <a:t>Output device connected via resistor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Arduino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int </a:t>
            </a:r>
            <a:r>
              <a:rPr dirty="0" err="1"/>
              <a:t>sensorPin</a:t>
            </a:r>
            <a:r>
              <a:rPr dirty="0"/>
              <a:t> = A0;</a:t>
            </a:r>
          </a:p>
          <a:p>
            <a:pPr marL="0" indent="0">
              <a:buNone/>
            </a:pPr>
            <a:r>
              <a:rPr dirty="0"/>
              <a:t>void setup() </a:t>
            </a:r>
            <a:endParaRPr lang="en-IN" dirty="0"/>
          </a:p>
          <a:p>
            <a:pPr marL="0" indent="0">
              <a:buNone/>
            </a:pPr>
            <a:r>
              <a:rPr dirty="0"/>
              <a:t>{ </a:t>
            </a:r>
            <a:endParaRPr lang="en-IN" dirty="0"/>
          </a:p>
          <a:p>
            <a:pPr marL="0" indent="0">
              <a:buNone/>
            </a:pPr>
            <a:r>
              <a:rPr dirty="0" err="1"/>
              <a:t>pinMode</a:t>
            </a:r>
            <a:r>
              <a:rPr dirty="0"/>
              <a:t>(</a:t>
            </a:r>
            <a:r>
              <a:rPr dirty="0" err="1"/>
              <a:t>sensorPin</a:t>
            </a:r>
            <a:r>
              <a:rPr dirty="0"/>
              <a:t>, INPUT); </a:t>
            </a:r>
            <a:endParaRPr lang="en-IN" dirty="0"/>
          </a:p>
          <a:p>
            <a:pPr marL="0" indent="0">
              <a:buNone/>
            </a:pPr>
            <a:r>
              <a:rPr dirty="0" err="1"/>
              <a:t>Serial.begin</a:t>
            </a:r>
            <a:r>
              <a:rPr dirty="0"/>
              <a:t>(9600); </a:t>
            </a:r>
            <a:endParaRPr lang="en-IN" dirty="0"/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void loop() </a:t>
            </a:r>
            <a:endParaRPr lang="en-IN" dirty="0"/>
          </a:p>
          <a:p>
            <a:pPr marL="0" indent="0">
              <a:buNone/>
            </a:pPr>
            <a:r>
              <a:rPr dirty="0"/>
              <a:t>{ </a:t>
            </a:r>
            <a:endParaRPr lang="en-IN" dirty="0"/>
          </a:p>
          <a:p>
            <a:pPr marL="0" indent="0">
              <a:buNone/>
            </a:pPr>
            <a:r>
              <a:rPr dirty="0"/>
              <a:t>int value = </a:t>
            </a:r>
            <a:r>
              <a:rPr dirty="0" err="1"/>
              <a:t>analogRead</a:t>
            </a:r>
            <a:r>
              <a:rPr dirty="0"/>
              <a:t>(</a:t>
            </a:r>
            <a:r>
              <a:rPr dirty="0" err="1"/>
              <a:t>sensorPin</a:t>
            </a:r>
            <a:r>
              <a:rPr dirty="0"/>
              <a:t>); </a:t>
            </a:r>
            <a:endParaRPr lang="en-IN" dirty="0"/>
          </a:p>
          <a:p>
            <a:pPr marL="0" indent="0">
              <a:buNone/>
            </a:pPr>
            <a:r>
              <a:rPr dirty="0" err="1"/>
              <a:t>Serial.println</a:t>
            </a:r>
            <a:r>
              <a:rPr dirty="0"/>
              <a:t>(value); </a:t>
            </a:r>
            <a:endParaRPr lang="en-IN" dirty="0"/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B131-FEAA-7255-2F7B-EB3729F0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LDR Interfacing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C49B6-9890-1627-3703-F740A3C40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LDR (Light Dependent Resistor)</a:t>
            </a:r>
            <a:r>
              <a:rPr lang="en-US" dirty="0"/>
              <a:t>, also called a </a:t>
            </a:r>
            <a:r>
              <a:rPr lang="en-US" b="1" dirty="0"/>
              <a:t>photoresistor</a:t>
            </a:r>
            <a:r>
              <a:rPr lang="en-US" dirty="0"/>
              <a:t>, is a sensor that responds to light. It is used to detect the </a:t>
            </a:r>
            <a:r>
              <a:rPr lang="en-US" b="1" dirty="0"/>
              <a:t>intensity, presence, or absence of light</a:t>
            </a:r>
            <a:r>
              <a:rPr lang="en-US" dirty="0"/>
              <a:t>. In darkness, the resistance of an LDR is </a:t>
            </a:r>
            <a:r>
              <a:rPr lang="en-US" b="1" dirty="0"/>
              <a:t>high</a:t>
            </a:r>
            <a:r>
              <a:rPr lang="en-US" dirty="0"/>
              <a:t>, and when sufficient light falls on it, the resistance </a:t>
            </a:r>
            <a:r>
              <a:rPr lang="en-US" b="1" dirty="0"/>
              <a:t>decreases significantly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026" name="Picture 2" descr="LDR light dependent resistor">
            <a:extLst>
              <a:ext uri="{FF2B5EF4-FFF2-40B4-BE49-F238E27FC236}">
                <a16:creationId xmlns:a16="http://schemas.microsoft.com/office/drawing/2014/main" id="{3B4CB4CB-1D33-EB3E-C6AC-877889C3A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365" y="4995333"/>
            <a:ext cx="2009835" cy="145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F5FF6-9CAC-B1CD-2D96-A35803F6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668"/>
            <a:ext cx="8229600" cy="694266"/>
          </a:xfrm>
        </p:spPr>
        <p:txBody>
          <a:bodyPr>
            <a:normAutofit fontScale="90000"/>
          </a:bodyPr>
          <a:lstStyle/>
          <a:p>
            <a:r>
              <a:rPr lang="en-IN" dirty="0"/>
              <a:t>Code(Interfacing with LDR)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E3FB4-3DE9-7FA6-75C1-EFAF4FE1D636}"/>
              </a:ext>
            </a:extLst>
          </p:cNvPr>
          <p:cNvSpPr txBox="1"/>
          <p:nvPr/>
        </p:nvSpPr>
        <p:spPr>
          <a:xfrm>
            <a:off x="347133" y="671691"/>
            <a:ext cx="8737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int </a:t>
            </a:r>
            <a:r>
              <a:rPr lang="en-IN" dirty="0" err="1"/>
              <a:t>ledPin</a:t>
            </a:r>
            <a:r>
              <a:rPr lang="en-IN" dirty="0"/>
              <a:t> = 5;  // digital pin 5 </a:t>
            </a:r>
          </a:p>
          <a:p>
            <a:r>
              <a:rPr lang="en-IN" dirty="0" err="1"/>
              <a:t>const</a:t>
            </a:r>
            <a:r>
              <a:rPr lang="en-IN" dirty="0"/>
              <a:t> int </a:t>
            </a:r>
            <a:r>
              <a:rPr lang="en-IN" dirty="0" err="1"/>
              <a:t>ldrPin</a:t>
            </a:r>
            <a:r>
              <a:rPr lang="en-IN" dirty="0"/>
              <a:t> = A0; // </a:t>
            </a:r>
            <a:r>
              <a:rPr lang="en-IN" dirty="0" err="1"/>
              <a:t>analog</a:t>
            </a:r>
            <a:r>
              <a:rPr lang="en-IN" dirty="0"/>
              <a:t> pin 0</a:t>
            </a:r>
          </a:p>
          <a:p>
            <a:endParaRPr lang="en-IN" dirty="0"/>
          </a:p>
          <a:p>
            <a:r>
              <a:rPr lang="en-IN" b="1" dirty="0"/>
              <a:t>void setup()  </a:t>
            </a:r>
            <a:r>
              <a:rPr lang="en-IN" dirty="0"/>
              <a:t>{ </a:t>
            </a:r>
          </a:p>
          <a:p>
            <a:r>
              <a:rPr lang="en-IN" dirty="0" err="1"/>
              <a:t>Serial.begin</a:t>
            </a:r>
            <a:r>
              <a:rPr lang="en-IN" dirty="0"/>
              <a:t>(9600);</a:t>
            </a:r>
          </a:p>
          <a:p>
            <a:r>
              <a:rPr lang="en-IN" dirty="0" err="1"/>
              <a:t>pinMode</a:t>
            </a:r>
            <a:r>
              <a:rPr lang="en-IN" dirty="0"/>
              <a:t>(</a:t>
            </a:r>
            <a:r>
              <a:rPr lang="en-IN" dirty="0" err="1"/>
              <a:t>ledPin</a:t>
            </a:r>
            <a:r>
              <a:rPr lang="en-IN" dirty="0"/>
              <a:t>, OUTPUT); // Here  LED is determined as an </a:t>
            </a:r>
            <a:r>
              <a:rPr lang="en-IN" dirty="0" err="1"/>
              <a:t>ouput</a:t>
            </a:r>
            <a:r>
              <a:rPr lang="en-IN" dirty="0"/>
              <a:t> or an indicator.</a:t>
            </a:r>
          </a:p>
          <a:p>
            <a:r>
              <a:rPr lang="en-IN" dirty="0" err="1"/>
              <a:t>pinMode</a:t>
            </a:r>
            <a:r>
              <a:rPr lang="en-IN" dirty="0"/>
              <a:t>(</a:t>
            </a:r>
            <a:r>
              <a:rPr lang="en-IN" dirty="0" err="1"/>
              <a:t>ldrPin</a:t>
            </a:r>
            <a:r>
              <a:rPr lang="en-IN" dirty="0"/>
              <a:t>, INPUT); //  Here LDR sensor is determined as input.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b="1" dirty="0"/>
              <a:t>void loop() </a:t>
            </a:r>
            <a:r>
              <a:rPr lang="en-IN" dirty="0"/>
              <a:t>{ </a:t>
            </a:r>
          </a:p>
          <a:p>
            <a:r>
              <a:rPr lang="en-IN" dirty="0"/>
              <a:t>int </a:t>
            </a:r>
            <a:r>
              <a:rPr lang="en-IN" dirty="0" err="1"/>
              <a:t>ldrStatus</a:t>
            </a:r>
            <a:r>
              <a:rPr lang="en-IN" dirty="0"/>
              <a:t> = </a:t>
            </a:r>
            <a:r>
              <a:rPr lang="en-IN" dirty="0" err="1"/>
              <a:t>analogRead</a:t>
            </a:r>
            <a:r>
              <a:rPr lang="en-IN" dirty="0"/>
              <a:t>(</a:t>
            </a:r>
            <a:r>
              <a:rPr lang="en-IN" dirty="0" err="1"/>
              <a:t>ldrPin</a:t>
            </a:r>
            <a:r>
              <a:rPr lang="en-IN" dirty="0"/>
              <a:t>);</a:t>
            </a:r>
          </a:p>
          <a:p>
            <a:r>
              <a:rPr lang="en-IN" dirty="0"/>
              <a:t>if  (</a:t>
            </a:r>
            <a:r>
              <a:rPr lang="en-IN" dirty="0" err="1"/>
              <a:t>ldrStatus</a:t>
            </a:r>
            <a:r>
              <a:rPr lang="en-IN" dirty="0"/>
              <a:t> &lt;= 200) {</a:t>
            </a:r>
          </a:p>
          <a:p>
            <a:r>
              <a:rPr lang="en-IN" dirty="0" err="1"/>
              <a:t>digitalWrite</a:t>
            </a:r>
            <a:r>
              <a:rPr lang="en-IN" dirty="0"/>
              <a:t>(</a:t>
            </a:r>
            <a:r>
              <a:rPr lang="en-IN" dirty="0" err="1"/>
              <a:t>ledPin</a:t>
            </a:r>
            <a:r>
              <a:rPr lang="en-IN" dirty="0"/>
              <a:t>, HIGH); // If LDR </a:t>
            </a:r>
            <a:r>
              <a:rPr lang="en-IN" dirty="0">
                <a:sym typeface="Wingdings" panose="05000000000000000000" pitchFamily="2" charset="2"/>
              </a:rPr>
              <a:t></a:t>
            </a:r>
            <a:r>
              <a:rPr lang="en-IN" dirty="0"/>
              <a:t> darkness  led </a:t>
            </a:r>
            <a:r>
              <a:rPr lang="en-IN" dirty="0">
                <a:sym typeface="Wingdings" panose="05000000000000000000" pitchFamily="2" charset="2"/>
              </a:rPr>
              <a:t></a:t>
            </a:r>
            <a:r>
              <a:rPr lang="en-IN" dirty="0"/>
              <a:t> high that means led will glow.</a:t>
            </a:r>
          </a:p>
          <a:p>
            <a:r>
              <a:rPr lang="en-IN" dirty="0" err="1"/>
              <a:t>Serial.print</a:t>
            </a:r>
            <a:r>
              <a:rPr lang="en-IN" dirty="0"/>
              <a:t>("Darkness over here, turn  on the LED : ");</a:t>
            </a:r>
          </a:p>
          <a:p>
            <a:r>
              <a:rPr lang="en-IN" dirty="0" err="1"/>
              <a:t>Serial.println</a:t>
            </a:r>
            <a:r>
              <a:rPr lang="en-IN" dirty="0"/>
              <a:t>(</a:t>
            </a:r>
            <a:r>
              <a:rPr lang="en-IN" dirty="0" err="1"/>
              <a:t>ldrStatus</a:t>
            </a:r>
            <a:r>
              <a:rPr lang="en-IN" dirty="0"/>
              <a:t>);</a:t>
            </a:r>
          </a:p>
          <a:p>
            <a:r>
              <a:rPr lang="en-IN" dirty="0"/>
              <a:t>} else 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digitalWrite</a:t>
            </a:r>
            <a:r>
              <a:rPr lang="en-IN" dirty="0"/>
              <a:t>(</a:t>
            </a:r>
            <a:r>
              <a:rPr lang="en-IN" dirty="0" err="1"/>
              <a:t>ledPin</a:t>
            </a:r>
            <a:r>
              <a:rPr lang="en-IN" dirty="0"/>
              <a:t>,  LOW); // </a:t>
            </a:r>
            <a:r>
              <a:rPr lang="en-US" dirty="0" err="1"/>
              <a:t>LDR</a:t>
            </a:r>
            <a:r>
              <a:rPr lang="en-US" dirty="0" err="1">
                <a:sym typeface="Wingdings" panose="05000000000000000000" pitchFamily="2" charset="2"/>
              </a:rPr>
              <a:t></a:t>
            </a:r>
            <a:r>
              <a:rPr lang="en-US" dirty="0" err="1"/>
              <a:t>light</a:t>
            </a:r>
            <a:r>
              <a:rPr lang="en-US" dirty="0"/>
              <a:t>, the LED </a:t>
            </a:r>
            <a:r>
              <a:rPr lang="en-US" dirty="0">
                <a:sym typeface="Wingdings" panose="05000000000000000000" pitchFamily="2" charset="2"/>
              </a:rPr>
              <a:t></a:t>
            </a:r>
            <a:r>
              <a:rPr lang="en-US" dirty="0"/>
              <a:t>LOW, so the LED stops glowing.</a:t>
            </a:r>
            <a:endParaRPr lang="en-IN" dirty="0"/>
          </a:p>
          <a:p>
            <a:r>
              <a:rPr lang="en-IN" dirty="0" err="1"/>
              <a:t>Serial.print</a:t>
            </a:r>
            <a:r>
              <a:rPr lang="en-IN" dirty="0"/>
              <a:t>("There  is </a:t>
            </a:r>
            <a:r>
              <a:rPr lang="en-IN" dirty="0" err="1"/>
              <a:t>sufficeint</a:t>
            </a:r>
            <a:r>
              <a:rPr lang="en-IN" dirty="0"/>
              <a:t> light , turn off the LED : ");</a:t>
            </a:r>
          </a:p>
          <a:p>
            <a:r>
              <a:rPr lang="en-IN" dirty="0" err="1"/>
              <a:t>Serial.println</a:t>
            </a:r>
            <a:r>
              <a:rPr lang="en-IN" dirty="0"/>
              <a:t>(</a:t>
            </a:r>
            <a:r>
              <a:rPr lang="en-IN" dirty="0" err="1"/>
              <a:t>ldrStatus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705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49AA9-BE7F-F2F5-9671-7F02E140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8962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374146"/>
                </a:solidFill>
                <a:effectLst/>
                <a:latin typeface="OpenSans-Bold"/>
              </a:rPr>
              <a:t>DHT11 (Four Pin)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E85FD-21A4-67D5-E6AA-20C28A0C7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8229600" cy="5262563"/>
          </a:xfrm>
        </p:spPr>
        <p:txBody>
          <a:bodyPr/>
          <a:lstStyle/>
          <a:p>
            <a:r>
              <a:rPr lang="en-IN" dirty="0"/>
              <a:t>DHT11 sensor with 4 pin is used for Humidity and Temperature Reading</a:t>
            </a:r>
          </a:p>
          <a:p>
            <a:r>
              <a:rPr lang="en-IN" dirty="0"/>
              <a:t>DHT11 sensor with 3 pin is used only for Humidity.</a:t>
            </a:r>
          </a:p>
          <a:p>
            <a:pPr algn="l"/>
            <a:r>
              <a:rPr lang="en-US" b="0" i="0" dirty="0">
                <a:solidFill>
                  <a:srgbClr val="374146"/>
                </a:solidFill>
                <a:effectLst/>
                <a:latin typeface="OpenSans-Bold"/>
              </a:rPr>
              <a:t>DHT11 Library</a:t>
            </a:r>
            <a:endParaRPr lang="en-IN" dirty="0"/>
          </a:p>
          <a:p>
            <a:endParaRPr lang="en-IN" dirty="0"/>
          </a:p>
        </p:txBody>
      </p:sp>
      <p:pic>
        <p:nvPicPr>
          <p:cNvPr id="2050" name="Picture 2" descr="Arduino Dht11 Sensor Interfacing With Arduino Uno | Arduino">
            <a:extLst>
              <a:ext uri="{FF2B5EF4-FFF2-40B4-BE49-F238E27FC236}">
                <a16:creationId xmlns:a16="http://schemas.microsoft.com/office/drawing/2014/main" id="{E169360C-E310-3714-2B94-C8F5E510E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" t="1701" r="5132" b="4352"/>
          <a:stretch/>
        </p:blipFill>
        <p:spPr bwMode="auto">
          <a:xfrm>
            <a:off x="3776133" y="2573868"/>
            <a:ext cx="4563534" cy="355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52622" y="6353443"/>
            <a:ext cx="579312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https://www.youtube.com/watch?v=p_aKKp_nRUM</a:t>
            </a:r>
          </a:p>
        </p:txBody>
      </p:sp>
    </p:spTree>
    <p:extLst>
      <p:ext uri="{BB962C8B-B14F-4D97-AF65-F5344CB8AC3E}">
        <p14:creationId xmlns:p14="http://schemas.microsoft.com/office/powerpoint/2010/main" val="30158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DD8922-4DF0-EF52-28DB-EC189281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470429"/>
          </a:xfrm>
        </p:spPr>
        <p:txBody>
          <a:bodyPr>
            <a:normAutofit fontScale="90000"/>
          </a:bodyPr>
          <a:lstStyle/>
          <a:p>
            <a:r>
              <a:rPr lang="en-IN" dirty="0"/>
              <a:t>DHT11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74A53-5417-C537-30AA-8BE1CD159467}"/>
              </a:ext>
            </a:extLst>
          </p:cNvPr>
          <p:cNvSpPr txBox="1"/>
          <p:nvPr/>
        </p:nvSpPr>
        <p:spPr>
          <a:xfrm>
            <a:off x="855133" y="984115"/>
            <a:ext cx="7594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&lt;dht11.h&gt;</a:t>
            </a:r>
          </a:p>
          <a:p>
            <a:r>
              <a:rPr lang="en-IN" dirty="0"/>
              <a:t>#define DHT11PIN 4</a:t>
            </a:r>
          </a:p>
          <a:p>
            <a:r>
              <a:rPr lang="en-IN" dirty="0"/>
              <a:t>dht11 </a:t>
            </a:r>
            <a:r>
              <a:rPr lang="en-IN" dirty="0" err="1"/>
              <a:t>DHT11</a:t>
            </a:r>
            <a:r>
              <a:rPr lang="en-IN" dirty="0"/>
              <a:t>;</a:t>
            </a:r>
          </a:p>
          <a:p>
            <a:r>
              <a:rPr lang="en-IN" dirty="0"/>
              <a:t>void  setup()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</a:t>
            </a:r>
            <a:r>
              <a:rPr lang="en-IN" dirty="0" err="1"/>
              <a:t>Serial.begin</a:t>
            </a:r>
            <a:r>
              <a:rPr lang="en-IN" dirty="0"/>
              <a:t>(9600);</a:t>
            </a:r>
          </a:p>
          <a:p>
            <a:r>
              <a:rPr lang="en-IN" dirty="0"/>
              <a:t> }</a:t>
            </a:r>
          </a:p>
          <a:p>
            <a:endParaRPr lang="en-IN" dirty="0"/>
          </a:p>
          <a:p>
            <a:r>
              <a:rPr lang="en-IN" dirty="0"/>
              <a:t>void loop()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</a:t>
            </a:r>
            <a:r>
              <a:rPr lang="en-IN" dirty="0" err="1"/>
              <a:t>Serial.println</a:t>
            </a:r>
            <a:r>
              <a:rPr lang="en-IN" dirty="0"/>
              <a:t>();</a:t>
            </a:r>
          </a:p>
          <a:p>
            <a:r>
              <a:rPr lang="en-IN" dirty="0"/>
              <a:t>  int </a:t>
            </a:r>
            <a:r>
              <a:rPr lang="en-IN" dirty="0" err="1"/>
              <a:t>chk</a:t>
            </a:r>
            <a:r>
              <a:rPr lang="en-IN" dirty="0"/>
              <a:t> = DHT11.read(DHT11PIN);</a:t>
            </a:r>
          </a:p>
          <a:p>
            <a:r>
              <a:rPr lang="en-IN" dirty="0"/>
              <a:t>  </a:t>
            </a:r>
            <a:r>
              <a:rPr lang="en-IN" dirty="0" err="1"/>
              <a:t>Serial.print</a:t>
            </a:r>
            <a:r>
              <a:rPr lang="en-IN" dirty="0"/>
              <a:t>("Humidity (%): ");</a:t>
            </a:r>
          </a:p>
          <a:p>
            <a:r>
              <a:rPr lang="en-IN" dirty="0"/>
              <a:t>  </a:t>
            </a:r>
            <a:r>
              <a:rPr lang="en-IN" dirty="0" err="1"/>
              <a:t>Serial.println</a:t>
            </a:r>
            <a:r>
              <a:rPr lang="en-IN" dirty="0"/>
              <a:t>((float)DHT11.humidity, 2);</a:t>
            </a:r>
          </a:p>
          <a:p>
            <a:r>
              <a:rPr lang="en-IN" dirty="0"/>
              <a:t>  </a:t>
            </a:r>
            <a:r>
              <a:rPr lang="en-IN" dirty="0" err="1"/>
              <a:t>Serial.print</a:t>
            </a:r>
            <a:r>
              <a:rPr lang="en-IN" dirty="0"/>
              <a:t>("Temperature  (C): ");</a:t>
            </a:r>
          </a:p>
          <a:p>
            <a:r>
              <a:rPr lang="en-IN" dirty="0"/>
              <a:t>  </a:t>
            </a:r>
            <a:r>
              <a:rPr lang="en-IN" dirty="0" err="1"/>
              <a:t>Serial.println</a:t>
            </a:r>
            <a:r>
              <a:rPr lang="en-IN" dirty="0"/>
              <a:t>((float)DHT11.temperature, 2);</a:t>
            </a:r>
          </a:p>
          <a:p>
            <a:r>
              <a:rPr lang="en-IN" dirty="0"/>
              <a:t>  delay(2000);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A6021-03D2-F366-CDDA-6360451EE354}"/>
              </a:ext>
            </a:extLst>
          </p:cNvPr>
          <p:cNvSpPr txBox="1"/>
          <p:nvPr/>
        </p:nvSpPr>
        <p:spPr>
          <a:xfrm>
            <a:off x="1591733" y="6247094"/>
            <a:ext cx="739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https://lastminuteengineers.com/dht11-module-arduino-tutorial/</a:t>
            </a:r>
          </a:p>
        </p:txBody>
      </p:sp>
    </p:spTree>
    <p:extLst>
      <p:ext uri="{BB962C8B-B14F-4D97-AF65-F5344CB8AC3E}">
        <p14:creationId xmlns:p14="http://schemas.microsoft.com/office/powerpoint/2010/main" val="250722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E7AD-E208-309A-8876-731582CE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Ultrasonic Sensor (HC-SR04)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ACD7-D155-5F00-A540-CE136E225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0734"/>
            <a:ext cx="8458200" cy="4915430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The ultrasonic sensor uses sonar to determine the distance to an object. Here’s what happens: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The ultrasound transmitter (trig pin) emits a high-frequency sound (40 kHz).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The sound travels through the air. If it finds an object, it bounces back to the module.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The ultrasound receiver (echo pin) receives the reflected sound (echo).</a:t>
            </a:r>
          </a:p>
          <a:p>
            <a:pPr algn="l">
              <a:buFont typeface="+mj-lt"/>
              <a:buAutoNum type="arabicPeriod"/>
            </a:pPr>
            <a:endParaRPr lang="en-US" dirty="0">
              <a:solidFill>
                <a:srgbClr val="3A3A3A"/>
              </a:solidFill>
              <a:latin typeface="Helvetica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3A3A3A"/>
              </a:solidFill>
              <a:effectLst/>
              <a:latin typeface="Helvetica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dirty="0">
              <a:solidFill>
                <a:srgbClr val="3A3A3A"/>
              </a:solidFill>
              <a:latin typeface="Helvetica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3A3A3A"/>
              </a:solidFill>
              <a:effectLst/>
              <a:latin typeface="Helvetica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842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3CA0-6B57-D419-C821-0322B667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495"/>
          </a:xfrm>
        </p:spPr>
        <p:txBody>
          <a:bodyPr>
            <a:normAutofit fontScale="90000"/>
          </a:bodyPr>
          <a:lstStyle/>
          <a:p>
            <a:r>
              <a:rPr lang="en-IN" dirty="0"/>
              <a:t>Ultrasonic Sensor (HC-SR04)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93666-1FCA-26A0-374F-C877A917C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5134"/>
            <a:ext cx="8229600" cy="5271030"/>
          </a:xfrm>
        </p:spPr>
        <p:txBody>
          <a:bodyPr>
            <a:normAutofit fontScale="92500" lnSpcReduction="10000"/>
          </a:bodyPr>
          <a:lstStyle/>
          <a:p>
            <a:r>
              <a:rPr lang="en-IN" b="1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Features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Power Supply :+5V DC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Quiescent Current : &lt;2mA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Working Current: 15mA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Effectual Angle: &lt;15°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Ranging Distance : 2cm – 400 cm/1″ – 13ft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Resolution : 0.3 cm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Measuring Angle: 30 degree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Trigger Input Pulse width: 10uS TTL pulse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Echo Output Signal: TTL pulse proportional to the distance range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A3A3A"/>
                </a:solidFill>
                <a:effectLst/>
                <a:latin typeface="Helvetica" panose="020B0604020202020204" pitchFamily="34" charset="0"/>
              </a:rPr>
              <a:t>Dimension: 45mm x 20mm x 15mm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80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1055-5C82-3C1D-4A6C-DD57B7CF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9029"/>
          </a:xfrm>
        </p:spPr>
        <p:txBody>
          <a:bodyPr>
            <a:normAutofit fontScale="90000"/>
          </a:bodyPr>
          <a:lstStyle/>
          <a:p>
            <a:r>
              <a:rPr lang="en-IN" dirty="0"/>
              <a:t>Wiring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B662D9-7A5D-FEEE-2D40-6DC775A4A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90675"/>
            <a:ext cx="788670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43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2D1D-1812-638D-37A6-2DAB005F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4362"/>
          </a:xfrm>
        </p:spPr>
        <p:txBody>
          <a:bodyPr>
            <a:normAutofit fontScale="90000"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46A938F-BEBF-6551-4D8A-4B1218BD4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33" y="1273336"/>
            <a:ext cx="6434667" cy="406265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trigPin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Trigger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echoPin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duration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inches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//Serial Port begin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//Define inputs and outputs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trigPin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echoPin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46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2D1D-1812-638D-37A6-2DAB005F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812"/>
            <a:ext cx="8229600" cy="546456"/>
          </a:xfrm>
        </p:spPr>
        <p:txBody>
          <a:bodyPr>
            <a:normAutofit fontScale="90000"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744BF-7F20-5AD3-1515-DF31D268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66" y="546193"/>
            <a:ext cx="8331200" cy="615553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sensor is triggered by a HIGH pulse of 10 or more microseconds.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Give a short LOW pulse beforehand to ensure a clean HIGH pulse: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trigPin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delayMicroseconds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trigPin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HIGH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delayMicroseconds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digitalWrite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trigPin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Read the signal from the sensor: a HIGH pulse whose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duration is the time (in microseconds) from the sending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of the ping to the reception of its echo off of an object.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pinMode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echoPin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pulseIn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echoPin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HIGH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Convert the time into a distance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29.1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Divide by 29.1 or multiply by 0.0343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inches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Divide by 74 or multiply by 0.0135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inches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"in, 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"cm"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556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Gas Sensor 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gas sensor is a device used to detect the presence and concentration of gases</a:t>
            </a:r>
          </a:p>
          <a:p>
            <a:r>
              <a:rPr lang="en-US" dirty="0"/>
              <a:t>Converts gas concentration into an electrical signal</a:t>
            </a:r>
          </a:p>
          <a:p>
            <a:r>
              <a:rPr lang="en-US" dirty="0"/>
              <a:t>Commonly used for safety, monitoring, and automation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Gas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Semiconductor (MQ series)</a:t>
            </a:r>
          </a:p>
          <a:p>
            <a:r>
              <a:rPr lang="en-US" dirty="0"/>
              <a:t>Electrochemical</a:t>
            </a:r>
          </a:p>
          <a:p>
            <a:r>
              <a:rPr lang="en-US" dirty="0"/>
              <a:t>Infrared (IR)</a:t>
            </a:r>
          </a:p>
          <a:p>
            <a:r>
              <a:rPr lang="en-US" dirty="0"/>
              <a:t>Catalytic bead</a:t>
            </a:r>
          </a:p>
          <a:p>
            <a:r>
              <a:rPr lang="en-US" dirty="0" err="1"/>
              <a:t>Photoionization</a:t>
            </a:r>
            <a:r>
              <a:rPr lang="en-US" dirty="0"/>
              <a:t> sensors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Semiconductor Gas Sensor (Most Common)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metal oxide semiconductor (</a:t>
            </a:r>
            <a:r>
              <a:rPr lang="en-US" dirty="0" err="1"/>
              <a:t>SnO</a:t>
            </a:r>
            <a:r>
              <a:rPr lang="en-US" dirty="0"/>
              <a:t>₂)</a:t>
            </a:r>
          </a:p>
          <a:p>
            <a:r>
              <a:rPr lang="en-US" dirty="0"/>
              <a:t>Resistance changes when gas is present</a:t>
            </a:r>
          </a:p>
          <a:p>
            <a:r>
              <a:rPr lang="en-US" dirty="0"/>
              <a:t>Requires a heater for operation</a:t>
            </a:r>
          </a:p>
          <a:p>
            <a:r>
              <a:rPr lang="en-US" dirty="0"/>
              <a:t>Low cost and widely used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tGPT Image Jan 27, 2026, 11_29_4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417" y="3437681"/>
            <a:ext cx="4748514" cy="31656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Construction of Gas Sensor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Sensing material (</a:t>
            </a:r>
            <a:r>
              <a:rPr lang="en-US" dirty="0" err="1"/>
              <a:t>SnO</a:t>
            </a:r>
            <a:r>
              <a:rPr lang="en-US" dirty="0"/>
              <a:t>₂ layer)</a:t>
            </a:r>
          </a:p>
          <a:p>
            <a:r>
              <a:rPr lang="en-US" dirty="0"/>
              <a:t>Heater coil</a:t>
            </a:r>
          </a:p>
          <a:p>
            <a:r>
              <a:rPr lang="en-US" dirty="0"/>
              <a:t>Electrodes</a:t>
            </a:r>
          </a:p>
          <a:p>
            <a:r>
              <a:rPr lang="en-US" dirty="0"/>
              <a:t>Protective mesh</a:t>
            </a:r>
          </a:p>
          <a:p>
            <a:r>
              <a:rPr lang="en-US" dirty="0"/>
              <a:t>Ceramic substrate</a:t>
            </a:r>
          </a:p>
          <a:p>
            <a:endParaRPr lang="en-US" dirty="0"/>
          </a:p>
        </p:txBody>
      </p:sp>
      <p:sp>
        <p:nvSpPr>
          <p:cNvPr id="1026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 surface absorbs oxygen from air</a:t>
            </a:r>
          </a:p>
          <a:p>
            <a:r>
              <a:rPr lang="en-US" dirty="0"/>
              <a:t>Oxygen captures free electrons → increases resistance</a:t>
            </a:r>
          </a:p>
          <a:p>
            <a:r>
              <a:rPr lang="en-US" dirty="0"/>
              <a:t>When target gas is present, it reacts with oxygen</a:t>
            </a:r>
          </a:p>
          <a:p>
            <a:r>
              <a:rPr lang="en-US" dirty="0"/>
              <a:t>Electrons are released → resistance decreases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33309" y="6124059"/>
            <a:ext cx="567738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https://www.youtube.com/watch?v=usEe3spV5vI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in resistance alters output voltage</a:t>
            </a:r>
          </a:p>
          <a:p>
            <a:r>
              <a:rPr lang="en-US" dirty="0"/>
              <a:t>Voltage is proportional to gas concentration</a:t>
            </a:r>
          </a:p>
          <a:p>
            <a:r>
              <a:rPr lang="en-US" dirty="0"/>
              <a:t>Output can be analog or digital</a:t>
            </a:r>
          </a:p>
          <a:p>
            <a:r>
              <a:rPr lang="en-US" dirty="0"/>
              <a:t>Interfaced with microcontrollers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  <a:endParaRPr lang="en-US" dirty="0"/>
          </a:p>
        </p:txBody>
      </p:sp>
      <p:pic>
        <p:nvPicPr>
          <p:cNvPr id="4" name="Content Placeholder 3" descr="ChatGPT Image Jan 27, 2026, 11_32_35 A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7" y="1600200"/>
            <a:ext cx="6788945" cy="4525963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Gas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Sensitivity</a:t>
            </a:r>
          </a:p>
          <a:p>
            <a:r>
              <a:rPr lang="en-US" dirty="0"/>
              <a:t>Selectivity</a:t>
            </a:r>
          </a:p>
          <a:p>
            <a:r>
              <a:rPr lang="en-US" dirty="0"/>
              <a:t>Response time</a:t>
            </a:r>
          </a:p>
          <a:p>
            <a:r>
              <a:rPr lang="en-US" dirty="0"/>
              <a:t>Recovery time</a:t>
            </a:r>
          </a:p>
          <a:p>
            <a:r>
              <a:rPr lang="en-US" dirty="0"/>
              <a:t>Operating temperature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LPG gas leakage detection</a:t>
            </a:r>
          </a:p>
          <a:p>
            <a:r>
              <a:rPr lang="en-US" dirty="0"/>
              <a:t>Industrial safety systems</a:t>
            </a:r>
          </a:p>
          <a:p>
            <a:r>
              <a:rPr lang="en-US" dirty="0"/>
              <a:t>Air quality monitoring</a:t>
            </a:r>
          </a:p>
          <a:p>
            <a:r>
              <a:rPr lang="en-US" dirty="0"/>
              <a:t>Medical applications</a:t>
            </a:r>
          </a:p>
          <a:p>
            <a:r>
              <a:rPr lang="en-US" dirty="0"/>
              <a:t>Smart homes and </a:t>
            </a:r>
            <a:r>
              <a:rPr lang="en-US" dirty="0" err="1"/>
              <a:t>IoT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6866" name="Picture 2" descr="https://www.tutorialspoint.com/assets/questions/media/54856/GasSenso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2420" y="1922772"/>
            <a:ext cx="5167895" cy="39718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for MQ2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6916"/>
            <a:ext cx="86868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sensorPin</a:t>
            </a:r>
            <a:r>
              <a:rPr lang="en-US" sz="2400" dirty="0"/>
              <a:t> = A0; </a:t>
            </a:r>
          </a:p>
          <a:p>
            <a:pPr>
              <a:buNone/>
            </a:pP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sensorThreshold</a:t>
            </a:r>
            <a:r>
              <a:rPr lang="en-US" sz="2400" dirty="0"/>
              <a:t> = 300; </a:t>
            </a:r>
          </a:p>
          <a:p>
            <a:pPr>
              <a:buNone/>
            </a:pPr>
            <a:r>
              <a:rPr lang="en-US" sz="2400" dirty="0"/>
              <a:t>void setup() {   </a:t>
            </a:r>
            <a:r>
              <a:rPr lang="en-US" sz="2400" dirty="0">
                <a:solidFill>
                  <a:srgbClr val="FF0000"/>
                </a:solidFill>
              </a:rPr>
              <a:t> // put your setup code here, to run once:    </a:t>
            </a:r>
          </a:p>
          <a:p>
            <a:pPr>
              <a:buNone/>
            </a:pPr>
            <a:r>
              <a:rPr lang="en-US" sz="2400" dirty="0" err="1"/>
              <a:t>Serial.begin</a:t>
            </a:r>
            <a:r>
              <a:rPr lang="en-US" sz="2400" dirty="0"/>
              <a:t>(9600);    </a:t>
            </a:r>
          </a:p>
          <a:p>
            <a:pPr>
              <a:buNone/>
            </a:pPr>
            <a:r>
              <a:rPr lang="en-US" sz="2400" dirty="0" err="1"/>
              <a:t>pinMode</a:t>
            </a:r>
            <a:r>
              <a:rPr lang="en-US" sz="2400" dirty="0"/>
              <a:t>(</a:t>
            </a:r>
            <a:r>
              <a:rPr lang="en-US" sz="2400" dirty="0" err="1"/>
              <a:t>sensorPin</a:t>
            </a:r>
            <a:r>
              <a:rPr lang="en-US" sz="2400" dirty="0"/>
              <a:t>, INPUT);</a:t>
            </a:r>
          </a:p>
          <a:p>
            <a:pPr>
              <a:buNone/>
            </a:pPr>
            <a:r>
              <a:rPr lang="en-US" sz="2400" dirty="0"/>
              <a:t> }</a:t>
            </a:r>
          </a:p>
          <a:p>
            <a:pPr>
              <a:buNone/>
            </a:pPr>
            <a:r>
              <a:rPr lang="en-US" sz="2400" dirty="0"/>
              <a:t> void loop() {    </a:t>
            </a:r>
            <a:r>
              <a:rPr lang="en-US" sz="2400" dirty="0">
                <a:solidFill>
                  <a:srgbClr val="FF0000"/>
                </a:solidFill>
              </a:rPr>
              <a:t>// put your main code here, to run repeatedly:    </a:t>
            </a:r>
          </a:p>
          <a:p>
            <a:pPr>
              <a:buNone/>
            </a:pPr>
            <a:r>
              <a:rPr lang="en-US" sz="2400" dirty="0"/>
              <a:t>if (</a:t>
            </a:r>
            <a:r>
              <a:rPr lang="en-US" sz="2400" dirty="0" err="1"/>
              <a:t>analogRead</a:t>
            </a:r>
            <a:r>
              <a:rPr lang="en-US" sz="2400" dirty="0"/>
              <a:t>(</a:t>
            </a:r>
            <a:r>
              <a:rPr lang="en-US" sz="2400" dirty="0" err="1"/>
              <a:t>sensorPin</a:t>
            </a:r>
            <a:r>
              <a:rPr lang="en-US" sz="2400" dirty="0"/>
              <a:t>) &gt; </a:t>
            </a:r>
            <a:r>
              <a:rPr lang="en-US" sz="2400" dirty="0" err="1"/>
              <a:t>sensorThreshold</a:t>
            </a:r>
            <a:r>
              <a:rPr lang="en-US" sz="2400" dirty="0"/>
              <a:t>) </a:t>
            </a:r>
          </a:p>
          <a:p>
            <a:pPr>
              <a:buNone/>
            </a:pPr>
            <a:r>
              <a:rPr lang="en-US" sz="2400" dirty="0"/>
              <a:t>{     </a:t>
            </a:r>
          </a:p>
          <a:p>
            <a:pPr>
              <a:buNone/>
            </a:pPr>
            <a:r>
              <a:rPr lang="en-US" sz="2400" dirty="0"/>
              <a:t>  </a:t>
            </a:r>
            <a:r>
              <a:rPr lang="en-US" sz="2400" dirty="0" err="1"/>
              <a:t>Serial.println</a:t>
            </a:r>
            <a:r>
              <a:rPr lang="en-US" sz="2400" dirty="0"/>
              <a:t>("Gas concentration too high!");   </a:t>
            </a:r>
          </a:p>
          <a:p>
            <a:pPr>
              <a:buNone/>
            </a:pPr>
            <a:r>
              <a:rPr lang="en-US" sz="2400" dirty="0"/>
              <a:t> } else</a:t>
            </a:r>
          </a:p>
          <a:p>
            <a:pPr>
              <a:buNone/>
            </a:pPr>
            <a:r>
              <a:rPr lang="en-US" sz="2400" dirty="0"/>
              <a:t> {      </a:t>
            </a:r>
          </a:p>
          <a:p>
            <a:pPr>
              <a:buNone/>
            </a:pPr>
            <a:r>
              <a:rPr lang="en-US" sz="2400" dirty="0"/>
              <a:t> </a:t>
            </a:r>
            <a:r>
              <a:rPr lang="en-US" sz="2400" dirty="0" err="1"/>
              <a:t>Serial.println</a:t>
            </a:r>
            <a:r>
              <a:rPr lang="en-US" sz="2400" dirty="0"/>
              <a:t>("Gas concentration in control"); </a:t>
            </a:r>
          </a:p>
          <a:p>
            <a:pPr>
              <a:buNone/>
            </a:pPr>
            <a:r>
              <a:rPr lang="en-US" sz="2400" dirty="0"/>
              <a:t>   } </a:t>
            </a:r>
          </a:p>
          <a:p>
            <a:pPr>
              <a:buNone/>
            </a:pPr>
            <a:r>
              <a:rPr lang="en-US" sz="2400" dirty="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Arduino Uno Pins - Schemati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4142" y="213870"/>
            <a:ext cx="6256377" cy="62563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Arduino</a:t>
            </a:r>
            <a:r>
              <a:rPr lang="en-US" dirty="0"/>
              <a:t> UNO?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Microcontroller board based on ATmega328P</a:t>
            </a:r>
          </a:p>
          <a:p>
            <a:r>
              <a:rPr lang="en-US" dirty="0"/>
              <a:t>Widely used for embedded systems &amp; electronics projects</a:t>
            </a:r>
          </a:p>
          <a:p>
            <a:r>
              <a:rPr lang="en-US" dirty="0"/>
              <a:t>Operates at </a:t>
            </a:r>
            <a:r>
              <a:rPr lang="en-US" b="1" dirty="0"/>
              <a:t>5V logic level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Pins on </a:t>
            </a:r>
            <a:r>
              <a:rPr lang="en-US" dirty="0" err="1"/>
              <a:t>Arduino</a:t>
            </a:r>
            <a:r>
              <a:rPr lang="en-US" dirty="0"/>
              <a:t> UNO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Pins</a:t>
            </a:r>
          </a:p>
          <a:p>
            <a:r>
              <a:rPr lang="en-US" dirty="0"/>
              <a:t>Digital I/O Pins</a:t>
            </a:r>
          </a:p>
          <a:p>
            <a:r>
              <a:rPr lang="en-US" dirty="0"/>
              <a:t>Analog Input Pins</a:t>
            </a:r>
          </a:p>
          <a:p>
            <a:r>
              <a:rPr lang="en-US" dirty="0"/>
              <a:t>Communication Pins</a:t>
            </a:r>
          </a:p>
          <a:p>
            <a:r>
              <a:rPr lang="en-US" dirty="0"/>
              <a:t>Special Function Pins (AREF, Reset, ICSP)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Pins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pins &amp; purpose: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5V &amp; 3.3V:</a:t>
            </a:r>
            <a:r>
              <a:rPr lang="en-US" dirty="0"/>
              <a:t> Regulated supply output</a:t>
            </a:r>
          </a:p>
          <a:p>
            <a:pPr lvl="1"/>
            <a:r>
              <a:rPr lang="en-US" b="1" dirty="0"/>
              <a:t>Vin:</a:t>
            </a:r>
            <a:r>
              <a:rPr lang="en-US" dirty="0"/>
              <a:t> External power input (7–12 V recommended)</a:t>
            </a:r>
          </a:p>
          <a:p>
            <a:pPr lvl="1"/>
            <a:r>
              <a:rPr lang="en-US" b="1" dirty="0"/>
              <a:t>GND:</a:t>
            </a:r>
            <a:r>
              <a:rPr lang="en-US" dirty="0"/>
              <a:t> Ground reference</a:t>
            </a:r>
          </a:p>
          <a:p>
            <a:pPr lvl="1"/>
            <a:r>
              <a:rPr lang="en-US" b="1" dirty="0"/>
              <a:t>AREF:</a:t>
            </a:r>
            <a:r>
              <a:rPr lang="en-US" dirty="0"/>
              <a:t> Reference voltage for ADC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I/O Pins (0–13)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14 Digital I/O pins</a:t>
            </a:r>
            <a:r>
              <a:rPr lang="en-US" dirty="0"/>
              <a:t> configurable as input or output </a:t>
            </a:r>
          </a:p>
          <a:p>
            <a:r>
              <a:rPr lang="en-US" dirty="0"/>
              <a:t>Use </a:t>
            </a:r>
            <a:r>
              <a:rPr lang="en-US" b="1" dirty="0" err="1"/>
              <a:t>pinMode</a:t>
            </a:r>
            <a:r>
              <a:rPr lang="en-US" b="1" dirty="0"/>
              <a:t>(), </a:t>
            </a:r>
            <a:r>
              <a:rPr lang="en-US" b="1" dirty="0" err="1"/>
              <a:t>digitalRead</a:t>
            </a:r>
            <a:r>
              <a:rPr lang="en-US" b="1" dirty="0"/>
              <a:t>(), </a:t>
            </a:r>
            <a:r>
              <a:rPr lang="en-US" b="1" dirty="0" err="1"/>
              <a:t>digitalWrite</a:t>
            </a:r>
            <a:r>
              <a:rPr lang="en-US" b="1" dirty="0"/>
              <a:t>()</a:t>
            </a:r>
            <a:r>
              <a:rPr lang="en-US" dirty="0"/>
              <a:t> in code</a:t>
            </a:r>
          </a:p>
          <a:p>
            <a:r>
              <a:rPr lang="en-US" dirty="0"/>
              <a:t>Operate at 5V; safe current up to ~20 </a:t>
            </a:r>
            <a:r>
              <a:rPr lang="en-US" dirty="0" err="1"/>
              <a:t>mA</a:t>
            </a:r>
            <a:r>
              <a:rPr lang="en-US" dirty="0"/>
              <a:t> per pin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Communication (UART)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Pins 0 (RX) and 1 (TX)</a:t>
            </a:r>
            <a:endParaRPr lang="en-US" dirty="0"/>
          </a:p>
          <a:p>
            <a:r>
              <a:rPr lang="en-US" dirty="0"/>
              <a:t>Used for serial communication with computer or peripherals</a:t>
            </a:r>
          </a:p>
          <a:p>
            <a:r>
              <a:rPr lang="en-US" dirty="0"/>
              <a:t>Connected to USB-to-serial chip on board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Interrupt Pins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Interrupts allow reacting immediately to signal changes</a:t>
            </a:r>
          </a:p>
          <a:p>
            <a:r>
              <a:rPr lang="en-US" b="1" dirty="0"/>
              <a:t>Pin 2 (INT0) &amp; Pin 3 (INT1)</a:t>
            </a:r>
            <a:r>
              <a:rPr lang="en-US" dirty="0"/>
              <a:t> supported</a:t>
            </a:r>
          </a:p>
          <a:p>
            <a:r>
              <a:rPr lang="en-US" dirty="0"/>
              <a:t>Useful for buttons, encoders, and fast sensor signals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PWM Pins (Pulse Width Modulation)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PWM simulates analog output by switching digital signal</a:t>
            </a:r>
          </a:p>
          <a:p>
            <a:r>
              <a:rPr lang="en-US" dirty="0"/>
              <a:t>PWM pins: </a:t>
            </a:r>
            <a:r>
              <a:rPr lang="en-US" b="1" dirty="0"/>
              <a:t>3, 5, 6, 9, 10, 11</a:t>
            </a:r>
            <a:r>
              <a:rPr lang="en-US" dirty="0"/>
              <a:t> </a:t>
            </a:r>
          </a:p>
          <a:p>
            <a:r>
              <a:rPr lang="en-US" dirty="0"/>
              <a:t>Great for </a:t>
            </a:r>
            <a:r>
              <a:rPr lang="en-US" b="1" dirty="0"/>
              <a:t>LED dimming, motor speed control, and sound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Communication Pins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High-speed communication protocol</a:t>
            </a:r>
          </a:p>
          <a:p>
            <a:r>
              <a:rPr lang="en-US" b="1" dirty="0"/>
              <a:t>10 (SS), 11 (MOSI), 12 (MISO), 13 (SCK)</a:t>
            </a:r>
            <a:r>
              <a:rPr lang="en-US" dirty="0"/>
              <a:t> </a:t>
            </a:r>
          </a:p>
          <a:p>
            <a:r>
              <a:rPr lang="en-US" dirty="0"/>
              <a:t>Used for SD cards, displays, sensors, etc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Input Pins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A0–A5</a:t>
            </a:r>
            <a:r>
              <a:rPr lang="en-US" dirty="0"/>
              <a:t> analog input pins</a:t>
            </a:r>
          </a:p>
          <a:p>
            <a:r>
              <a:rPr lang="en-US" dirty="0"/>
              <a:t>Reads real voltage levels (0–5 V)</a:t>
            </a:r>
          </a:p>
          <a:p>
            <a:r>
              <a:rPr lang="en-US" b="1" dirty="0"/>
              <a:t>10-bit ADC converts voltage to digital (0–1023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Analog Pins as Digital I/O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pins can also serve as digital I/O</a:t>
            </a:r>
          </a:p>
          <a:p>
            <a:r>
              <a:rPr lang="en-US" dirty="0"/>
              <a:t>Enabled through software configuration </a:t>
            </a:r>
          </a:p>
          <a:p>
            <a:pPr lvl="1"/>
            <a:r>
              <a:rPr lang="en-US" b="1" dirty="0"/>
              <a:t>Software Configuration</a:t>
            </a:r>
          </a:p>
          <a:p>
            <a:pPr lvl="1"/>
            <a:r>
              <a:rPr lang="en-US" dirty="0"/>
              <a:t>Analog pins are enabled as digital I/O using standard digital functions:</a:t>
            </a:r>
          </a:p>
          <a:p>
            <a:pPr lvl="2"/>
            <a:r>
              <a:rPr lang="en-US" b="1" dirty="0" err="1"/>
              <a:t>pinMode</a:t>
            </a:r>
            <a:r>
              <a:rPr lang="en-US" b="1" dirty="0"/>
              <a:t>(A0, INPUT / OUTPUT);</a:t>
            </a:r>
            <a:endParaRPr lang="en-US" dirty="0"/>
          </a:p>
          <a:p>
            <a:pPr lvl="2"/>
            <a:r>
              <a:rPr lang="en-US" b="1" dirty="0" err="1"/>
              <a:t>digitalWrite</a:t>
            </a:r>
            <a:r>
              <a:rPr lang="en-US" b="1" dirty="0"/>
              <a:t>(A0, HIGH / LOW);</a:t>
            </a:r>
            <a:endParaRPr lang="en-US" dirty="0"/>
          </a:p>
          <a:p>
            <a:pPr lvl="2"/>
            <a:r>
              <a:rPr lang="en-US" b="1" dirty="0" err="1"/>
              <a:t>digitalRead</a:t>
            </a:r>
            <a:r>
              <a:rPr lang="en-US" b="1" dirty="0"/>
              <a:t>(A0);</a:t>
            </a:r>
            <a:endParaRPr lang="en-US" dirty="0"/>
          </a:p>
          <a:p>
            <a:pPr lvl="1"/>
            <a:r>
              <a:rPr lang="en-US" dirty="0"/>
              <a:t>Here, </a:t>
            </a:r>
            <a:r>
              <a:rPr lang="en-US" b="1" dirty="0"/>
              <a:t>A0–A5 act like digital pins D14–D19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AREF &amp; ADC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AREF</a:t>
            </a:r>
            <a:r>
              <a:rPr lang="en-US" dirty="0"/>
              <a:t> – sets reference for analog inputs</a:t>
            </a:r>
          </a:p>
          <a:p>
            <a:r>
              <a:rPr lang="en-US" dirty="0"/>
              <a:t>Improves measurement accuracy</a:t>
            </a:r>
          </a:p>
          <a:p>
            <a:r>
              <a:rPr lang="en-US" dirty="0"/>
              <a:t>Useful for external sensors with different voltage ranges</a:t>
            </a:r>
          </a:p>
          <a:p>
            <a:r>
              <a:rPr lang="en-US" b="1" dirty="0"/>
              <a:t>Example: Using AREF for Accurate Analog Measurement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temperature sensor</a:t>
            </a:r>
            <a:r>
              <a:rPr lang="en-US" dirty="0"/>
              <a:t> outputs voltage in the range </a:t>
            </a:r>
            <a:r>
              <a:rPr lang="en-US" b="1" dirty="0"/>
              <a:t>0–3.3 V</a:t>
            </a:r>
            <a:endParaRPr lang="en-US" dirty="0"/>
          </a:p>
          <a:p>
            <a:pPr lvl="1"/>
            <a:r>
              <a:rPr lang="en-US" dirty="0" err="1"/>
              <a:t>Arduino</a:t>
            </a:r>
            <a:r>
              <a:rPr lang="en-US" dirty="0"/>
              <a:t> Uno default ADC reference is </a:t>
            </a:r>
            <a:r>
              <a:rPr lang="en-US" b="1" dirty="0"/>
              <a:t>5 V</a:t>
            </a:r>
            <a:endParaRPr lang="en-US" dirty="0"/>
          </a:p>
          <a:p>
            <a:pPr lvl="1"/>
            <a:r>
              <a:rPr lang="en-US" dirty="0"/>
              <a:t>This causes </a:t>
            </a:r>
            <a:r>
              <a:rPr lang="en-US" b="1" dirty="0"/>
              <a:t>lower resolution and reduced accuracy</a:t>
            </a:r>
          </a:p>
          <a:p>
            <a:pPr lvl="1"/>
            <a:r>
              <a:rPr lang="en-IN" b="1" dirty="0" err="1">
                <a:solidFill>
                  <a:srgbClr val="FF0000"/>
                </a:solidFill>
              </a:rPr>
              <a:t>Soln</a:t>
            </a:r>
            <a:endParaRPr lang="en-IN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Apply </a:t>
            </a:r>
            <a:r>
              <a:rPr lang="en-US" b="1" dirty="0"/>
              <a:t>3.3 V</a:t>
            </a:r>
            <a:r>
              <a:rPr lang="en-US" dirty="0"/>
              <a:t> to the </a:t>
            </a:r>
            <a:r>
              <a:rPr lang="en-US" b="1" dirty="0"/>
              <a:t>AREF pin</a:t>
            </a:r>
            <a:endParaRPr lang="en-US" dirty="0"/>
          </a:p>
          <a:p>
            <a:pPr lvl="1"/>
            <a:r>
              <a:rPr lang="en-US" dirty="0"/>
              <a:t>Configure the ADC reference in software</a:t>
            </a:r>
          </a:p>
          <a:p>
            <a:pPr lvl="1"/>
            <a:r>
              <a:rPr lang="en-US" dirty="0" err="1"/>
              <a:t>analogReference</a:t>
            </a:r>
            <a:r>
              <a:rPr lang="en-US" dirty="0"/>
              <a:t>(EXTERNAL);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 &amp; ICSP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RESET</a:t>
            </a:r>
            <a:r>
              <a:rPr lang="en-US" dirty="0"/>
              <a:t> – resets the board</a:t>
            </a:r>
          </a:p>
          <a:p>
            <a:r>
              <a:rPr lang="en-US" b="1" dirty="0"/>
              <a:t>ICSP header</a:t>
            </a:r>
            <a:r>
              <a:rPr lang="en-US" dirty="0"/>
              <a:t> – for programming microcontroller directly</a:t>
            </a:r>
          </a:p>
          <a:p>
            <a:r>
              <a:rPr lang="en-US" dirty="0"/>
              <a:t>Useful for </a:t>
            </a:r>
            <a:r>
              <a:rPr lang="en-US" dirty="0" err="1"/>
              <a:t>bootloader</a:t>
            </a:r>
            <a:r>
              <a:rPr lang="en-US" dirty="0"/>
              <a:t> or advanced debugging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Current &amp; Safety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Recommended: </a:t>
            </a:r>
            <a:r>
              <a:rPr lang="en-US" b="1" dirty="0"/>
              <a:t>≤ 20 </a:t>
            </a:r>
            <a:r>
              <a:rPr lang="en-US" b="1" dirty="0" err="1"/>
              <a:t>mA</a:t>
            </a:r>
            <a:r>
              <a:rPr lang="en-US" b="1" dirty="0"/>
              <a:t> per I/O pin</a:t>
            </a:r>
            <a:endParaRPr lang="en-US" dirty="0"/>
          </a:p>
          <a:p>
            <a:r>
              <a:rPr lang="en-US" dirty="0"/>
              <a:t>Absolute max: </a:t>
            </a:r>
            <a:r>
              <a:rPr lang="en-US" b="1" dirty="0"/>
              <a:t>40 </a:t>
            </a:r>
            <a:r>
              <a:rPr lang="en-US" b="1" dirty="0" err="1"/>
              <a:t>mA</a:t>
            </a:r>
            <a:r>
              <a:rPr lang="en-US" b="1" dirty="0"/>
              <a:t> per pin</a:t>
            </a:r>
            <a:endParaRPr lang="en-US" dirty="0"/>
          </a:p>
          <a:p>
            <a:r>
              <a:rPr lang="en-US" dirty="0"/>
              <a:t>Total current across all pins should stay below limits to avoid damage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1814</Words>
  <Application>Microsoft Office PowerPoint</Application>
  <PresentationFormat>On-screen Show (4:3)</PresentationFormat>
  <Paragraphs>297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Consolas</vt:lpstr>
      <vt:lpstr>Helvetica</vt:lpstr>
      <vt:lpstr>OpenSans-Bold</vt:lpstr>
      <vt:lpstr>Wingdings</vt:lpstr>
      <vt:lpstr>Office Theme</vt:lpstr>
      <vt:lpstr>Sensor Programming Fundamentals &amp; Arduino Basics</vt:lpstr>
      <vt:lpstr>Sensor Programming Fundamentals</vt:lpstr>
      <vt:lpstr>Program Structure (Arduino)</vt:lpstr>
      <vt:lpstr>Execution Flow</vt:lpstr>
      <vt:lpstr>Pin Configuration</vt:lpstr>
      <vt:lpstr>Hardware Abstraction</vt:lpstr>
      <vt:lpstr>Arduino Programming Basics</vt:lpstr>
      <vt:lpstr>Block Diagram: Sensor Interfacing with Arduino</vt:lpstr>
      <vt:lpstr>Circuit Diagram (Conceptual)</vt:lpstr>
      <vt:lpstr>Sample Arduino Code</vt:lpstr>
      <vt:lpstr>LDR Interfacing</vt:lpstr>
      <vt:lpstr>Code(Interfacing with LDR)</vt:lpstr>
      <vt:lpstr>DHT11 (Four Pin)</vt:lpstr>
      <vt:lpstr>DHT11</vt:lpstr>
      <vt:lpstr>Ultrasonic Sensor (HC-SR04)</vt:lpstr>
      <vt:lpstr>Ultrasonic Sensor (HC-SR04)</vt:lpstr>
      <vt:lpstr>Wiring</vt:lpstr>
      <vt:lpstr>Code</vt:lpstr>
      <vt:lpstr>Code</vt:lpstr>
      <vt:lpstr>Gas Sensor Working</vt:lpstr>
      <vt:lpstr>Types of Gas Sensors</vt:lpstr>
      <vt:lpstr>Semiconductor Gas Sensor (Most Common)</vt:lpstr>
      <vt:lpstr>Construction of Gas Sensor</vt:lpstr>
      <vt:lpstr>Working</vt:lpstr>
      <vt:lpstr>Signal Generation</vt:lpstr>
      <vt:lpstr>Block Diagram</vt:lpstr>
      <vt:lpstr>Characteristics of Gas Sensors</vt:lpstr>
      <vt:lpstr>Applications</vt:lpstr>
      <vt:lpstr>Code</vt:lpstr>
      <vt:lpstr>Code for MQ2</vt:lpstr>
      <vt:lpstr>PowerPoint Presentation</vt:lpstr>
      <vt:lpstr>What Is Arduino UNO?</vt:lpstr>
      <vt:lpstr>Types of Pins on Arduino UNO</vt:lpstr>
      <vt:lpstr>Power Pins Overview</vt:lpstr>
      <vt:lpstr>Digital I/O Pins (0–13)</vt:lpstr>
      <vt:lpstr>Serial Communication (UART)</vt:lpstr>
      <vt:lpstr>External Interrupt Pins</vt:lpstr>
      <vt:lpstr>PWM Pins (Pulse Width Modulation)</vt:lpstr>
      <vt:lpstr>SPI Communication Pins</vt:lpstr>
      <vt:lpstr>Analog Input Pins  </vt:lpstr>
      <vt:lpstr>Analog Pins as Digital I/O</vt:lpstr>
      <vt:lpstr>AREF &amp; ADC Reference</vt:lpstr>
      <vt:lpstr>Reset &amp; ICSP Header</vt:lpstr>
      <vt:lpstr>Pin Current &amp; Safety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Programming Fundamentals &amp; Arduino Basics</dc:title>
  <dc:subject/>
  <dc:creator/>
  <cp:keywords/>
  <dc:description>generated using python-pptx</dc:description>
  <cp:lastModifiedBy>krishnamurthy B.S</cp:lastModifiedBy>
  <cp:revision>9</cp:revision>
  <dcterms:created xsi:type="dcterms:W3CDTF">2013-01-27T09:14:16Z</dcterms:created>
  <dcterms:modified xsi:type="dcterms:W3CDTF">2026-02-02T06:25:37Z</dcterms:modified>
  <cp:category/>
</cp:coreProperties>
</file>